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Belleza" charset="1" panose="02000503050000020003"/>
      <p:regular r:id="rId28"/>
    </p:embeddedFont>
    <p:embeddedFont>
      <p:font typeface="Raleway Semi-Bold" charset="1" panose="00000000000000000000"/>
      <p:regular r:id="rId29"/>
    </p:embeddedFont>
    <p:embeddedFont>
      <p:font typeface="Raleway Medium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950481" y="3570018"/>
            <a:ext cx="12387037" cy="209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61"/>
              </a:lnSpc>
            </a:pPr>
            <a:r>
              <a:rPr lang="en-US" sz="12186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TREE SORT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90770" y="5601721"/>
            <a:ext cx="8306459" cy="68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3"/>
              </a:lnSpc>
            </a:pPr>
            <a:r>
              <a:rPr lang="en-US" sz="4017" b="true">
                <a:solidFill>
                  <a:srgbClr val="8F6446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Catherine Cavalcanti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71958" y="2247560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INTRODUÇÃO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92173" y="4186479"/>
            <a:ext cx="11503654" cy="305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8"/>
              </a:lnSpc>
            </a:pPr>
            <a:r>
              <a:rPr lang="en-US" sz="32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 Tree Sort é um algoritmo de ordenação baseado em árvores binárias de busca (BST).</a:t>
            </a:r>
          </a:p>
          <a:p>
            <a:pPr algn="ctr">
              <a:lnSpc>
                <a:spcPts val="1624"/>
              </a:lnSpc>
            </a:pPr>
          </a:p>
          <a:p>
            <a:pPr algn="ctr">
              <a:lnSpc>
                <a:spcPts val="4548"/>
              </a:lnSpc>
            </a:pPr>
            <a:r>
              <a:rPr lang="en-US" sz="32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Ele funciona inserindo todos os elementos da lista em uma BST e depois realizando um percurso em ordem (in-order traversal).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67244" y="1748684"/>
            <a:ext cx="10553512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FUNCIONAMENTO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92173" y="3683620"/>
            <a:ext cx="11503654" cy="456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493" indent="-350747" lvl="1">
              <a:lnSpc>
                <a:spcPts val="4548"/>
              </a:lnSpc>
              <a:buFont typeface="Arial"/>
              <a:buChar char="•"/>
            </a:pP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249" u="sng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Inserção:</a:t>
            </a: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cada elemento da lista é inserido na árvore binária de busca.</a:t>
            </a:r>
          </a:p>
          <a:p>
            <a:pPr algn="l" marL="1402986" indent="-467662" lvl="2">
              <a:lnSpc>
                <a:spcPts val="4548"/>
              </a:lnSpc>
              <a:buFont typeface="Arial"/>
              <a:buChar char="⚬"/>
            </a:pP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Elementos menores vão para a subárvore esquerda.</a:t>
            </a:r>
          </a:p>
          <a:p>
            <a:pPr algn="l" marL="1402986" indent="-467662" lvl="2">
              <a:lnSpc>
                <a:spcPts val="4548"/>
              </a:lnSpc>
              <a:buFont typeface="Arial"/>
              <a:buChar char="⚬"/>
            </a:pP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Elementos maiores vão para a subárvore direita</a:t>
            </a:r>
          </a:p>
          <a:p>
            <a:pPr algn="l" marL="701493" indent="-350747" lvl="1">
              <a:lnSpc>
                <a:spcPts val="4548"/>
              </a:lnSpc>
              <a:buFont typeface="Arial"/>
              <a:buChar char="•"/>
            </a:pP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249" u="sng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Percurso:</a:t>
            </a: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após inserir todos os elementos, percorremos a árvore em ordem.</a:t>
            </a:r>
          </a:p>
          <a:p>
            <a:pPr algn="l" marL="1402986" indent="-467662" lvl="2">
              <a:lnSpc>
                <a:spcPts val="4548"/>
              </a:lnSpc>
              <a:buFont typeface="Arial"/>
              <a:buChar char="⚬"/>
            </a:pP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Esse percurso visita os nós em ordem crescente (left → root → right).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67244" y="1748684"/>
            <a:ext cx="10553512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FUNCIONAMENTO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92173" y="3683620"/>
            <a:ext cx="11503654" cy="342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493" indent="-350747" lvl="1">
              <a:lnSpc>
                <a:spcPts val="4548"/>
              </a:lnSpc>
              <a:buFont typeface="Arial"/>
              <a:buChar char="•"/>
            </a:pP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249" u="sng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Resultado:</a:t>
            </a: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 lista ordenada é obtida a partir desse percorrimento.</a:t>
            </a:r>
          </a:p>
          <a:p>
            <a:pPr algn="l" marL="701493" indent="-350747" lvl="1">
              <a:lnSpc>
                <a:spcPts val="4548"/>
              </a:lnSpc>
              <a:buFont typeface="Arial"/>
              <a:buChar char="•"/>
            </a:pP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249" u="sng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Resultado decrescente</a:t>
            </a: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 o percorrimento na árvore é feito de maneira inversa.</a:t>
            </a:r>
          </a:p>
          <a:p>
            <a:pPr algn="l" marL="1402986" indent="-467662" lvl="2">
              <a:lnSpc>
                <a:spcPts val="4548"/>
              </a:lnSpc>
              <a:buFont typeface="Arial"/>
              <a:buChar char="⚬"/>
            </a:pP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Percorr</a:t>
            </a: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 primeiro a subárvore direita (right → root → left) para a ordem decrescente.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554473" y="1028700"/>
            <a:ext cx="12842491" cy="8099591"/>
          </a:xfrm>
          <a:custGeom>
            <a:avLst/>
            <a:gdLst/>
            <a:ahLst/>
            <a:cxnLst/>
            <a:rect r="r" b="b" t="t" l="l"/>
            <a:pathLst>
              <a:path h="8099591" w="12842491">
                <a:moveTo>
                  <a:pt x="0" y="0"/>
                </a:moveTo>
                <a:lnTo>
                  <a:pt x="12842491" y="0"/>
                </a:lnTo>
                <a:lnTo>
                  <a:pt x="12842491" y="8099591"/>
                </a:lnTo>
                <a:lnTo>
                  <a:pt x="0" y="80995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5400000">
            <a:off x="-3226097" y="4299856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CÓDIGO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493371" y="1673883"/>
            <a:ext cx="12823416" cy="6459796"/>
          </a:xfrm>
          <a:custGeom>
            <a:avLst/>
            <a:gdLst/>
            <a:ahLst/>
            <a:cxnLst/>
            <a:rect r="r" b="b" t="t" l="l"/>
            <a:pathLst>
              <a:path h="6459796" w="12823416">
                <a:moveTo>
                  <a:pt x="0" y="0"/>
                </a:moveTo>
                <a:lnTo>
                  <a:pt x="12823415" y="0"/>
                </a:lnTo>
                <a:lnTo>
                  <a:pt x="12823415" y="6459796"/>
                </a:lnTo>
                <a:lnTo>
                  <a:pt x="0" y="645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5400000">
            <a:off x="-3226097" y="4299856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CÓDIGO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79095" y="2031562"/>
            <a:ext cx="9466574" cy="4018186"/>
          </a:xfrm>
          <a:custGeom>
            <a:avLst/>
            <a:gdLst/>
            <a:ahLst/>
            <a:cxnLst/>
            <a:rect r="r" b="b" t="t" l="l"/>
            <a:pathLst>
              <a:path h="4018186" w="9466574">
                <a:moveTo>
                  <a:pt x="0" y="0"/>
                </a:moveTo>
                <a:lnTo>
                  <a:pt x="9466575" y="0"/>
                </a:lnTo>
                <a:lnTo>
                  <a:pt x="9466575" y="4018186"/>
                </a:lnTo>
                <a:lnTo>
                  <a:pt x="0" y="40181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403373" y="6678398"/>
            <a:ext cx="8218020" cy="824462"/>
          </a:xfrm>
          <a:custGeom>
            <a:avLst/>
            <a:gdLst/>
            <a:ahLst/>
            <a:cxnLst/>
            <a:rect r="r" b="b" t="t" l="l"/>
            <a:pathLst>
              <a:path h="824462" w="8218020">
                <a:moveTo>
                  <a:pt x="0" y="0"/>
                </a:moveTo>
                <a:lnTo>
                  <a:pt x="8218020" y="0"/>
                </a:lnTo>
                <a:lnTo>
                  <a:pt x="8218020" y="824461"/>
                </a:lnTo>
                <a:lnTo>
                  <a:pt x="0" y="8244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-5400000">
            <a:off x="-3226097" y="4299856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CÓDIGO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927322" y="1279058"/>
            <a:ext cx="12171470" cy="7728883"/>
          </a:xfrm>
          <a:custGeom>
            <a:avLst/>
            <a:gdLst/>
            <a:ahLst/>
            <a:cxnLst/>
            <a:rect r="r" b="b" t="t" l="l"/>
            <a:pathLst>
              <a:path h="7728883" w="12171470">
                <a:moveTo>
                  <a:pt x="0" y="0"/>
                </a:moveTo>
                <a:lnTo>
                  <a:pt x="12171470" y="0"/>
                </a:lnTo>
                <a:lnTo>
                  <a:pt x="12171470" y="7728884"/>
                </a:lnTo>
                <a:lnTo>
                  <a:pt x="0" y="77288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5400000">
            <a:off x="-3226097" y="4299856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CÓDIGO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792385" y="3011333"/>
            <a:ext cx="12306407" cy="3953433"/>
          </a:xfrm>
          <a:custGeom>
            <a:avLst/>
            <a:gdLst/>
            <a:ahLst/>
            <a:cxnLst/>
            <a:rect r="r" b="b" t="t" l="l"/>
            <a:pathLst>
              <a:path h="3953433" w="12306407">
                <a:moveTo>
                  <a:pt x="0" y="0"/>
                </a:moveTo>
                <a:lnTo>
                  <a:pt x="12306407" y="0"/>
                </a:lnTo>
                <a:lnTo>
                  <a:pt x="12306407" y="3953433"/>
                </a:lnTo>
                <a:lnTo>
                  <a:pt x="0" y="39534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5400000">
            <a:off x="-3226097" y="4299856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CÓDIGO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58882" y="4625047"/>
            <a:ext cx="7165006" cy="1966656"/>
          </a:xfrm>
          <a:custGeom>
            <a:avLst/>
            <a:gdLst/>
            <a:ahLst/>
            <a:cxnLst/>
            <a:rect r="r" b="b" t="t" l="l"/>
            <a:pathLst>
              <a:path h="1966656" w="7165006">
                <a:moveTo>
                  <a:pt x="0" y="0"/>
                </a:moveTo>
                <a:lnTo>
                  <a:pt x="7165006" y="0"/>
                </a:lnTo>
                <a:lnTo>
                  <a:pt x="7165006" y="1966656"/>
                </a:lnTo>
                <a:lnTo>
                  <a:pt x="0" y="1966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976660" y="1972662"/>
            <a:ext cx="7644282" cy="5805223"/>
          </a:xfrm>
          <a:custGeom>
            <a:avLst/>
            <a:gdLst/>
            <a:ahLst/>
            <a:cxnLst/>
            <a:rect r="r" b="b" t="t" l="l"/>
            <a:pathLst>
              <a:path h="5805223" w="7644282">
                <a:moveTo>
                  <a:pt x="0" y="0"/>
                </a:moveTo>
                <a:lnTo>
                  <a:pt x="7644282" y="0"/>
                </a:lnTo>
                <a:lnTo>
                  <a:pt x="7644282" y="5805224"/>
                </a:lnTo>
                <a:lnTo>
                  <a:pt x="0" y="5805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95250" y="1772637"/>
            <a:ext cx="7257290" cy="168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OUTPUTS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58882" y="4801741"/>
            <a:ext cx="7165006" cy="1987917"/>
          </a:xfrm>
          <a:custGeom>
            <a:avLst/>
            <a:gdLst/>
            <a:ahLst/>
            <a:cxnLst/>
            <a:rect r="r" b="b" t="t" l="l"/>
            <a:pathLst>
              <a:path h="1987917" w="7165006">
                <a:moveTo>
                  <a:pt x="0" y="0"/>
                </a:moveTo>
                <a:lnTo>
                  <a:pt x="7165006" y="0"/>
                </a:lnTo>
                <a:lnTo>
                  <a:pt x="7165006" y="1987917"/>
                </a:lnTo>
                <a:lnTo>
                  <a:pt x="0" y="19879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65449" y="1972662"/>
            <a:ext cx="7579649" cy="5796202"/>
          </a:xfrm>
          <a:custGeom>
            <a:avLst/>
            <a:gdLst/>
            <a:ahLst/>
            <a:cxnLst/>
            <a:rect r="r" b="b" t="t" l="l"/>
            <a:pathLst>
              <a:path h="5796202" w="7579649">
                <a:moveTo>
                  <a:pt x="0" y="0"/>
                </a:moveTo>
                <a:lnTo>
                  <a:pt x="7579649" y="0"/>
                </a:lnTo>
                <a:lnTo>
                  <a:pt x="7579649" y="5796202"/>
                </a:lnTo>
                <a:lnTo>
                  <a:pt x="0" y="57962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95250" y="1772637"/>
            <a:ext cx="7257290" cy="168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OUTPUTS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83259" y="4896366"/>
            <a:ext cx="7313859" cy="1798668"/>
          </a:xfrm>
          <a:custGeom>
            <a:avLst/>
            <a:gdLst/>
            <a:ahLst/>
            <a:cxnLst/>
            <a:rect r="r" b="b" t="t" l="l"/>
            <a:pathLst>
              <a:path h="1798668" w="7313859">
                <a:moveTo>
                  <a:pt x="0" y="0"/>
                </a:moveTo>
                <a:lnTo>
                  <a:pt x="7313859" y="0"/>
                </a:lnTo>
                <a:lnTo>
                  <a:pt x="7313859" y="1798667"/>
                </a:lnTo>
                <a:lnTo>
                  <a:pt x="0" y="17986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25253" y="2043704"/>
            <a:ext cx="7419845" cy="5849849"/>
          </a:xfrm>
          <a:custGeom>
            <a:avLst/>
            <a:gdLst/>
            <a:ahLst/>
            <a:cxnLst/>
            <a:rect r="r" b="b" t="t" l="l"/>
            <a:pathLst>
              <a:path h="5849849" w="7419845">
                <a:moveTo>
                  <a:pt x="0" y="0"/>
                </a:moveTo>
                <a:lnTo>
                  <a:pt x="7419845" y="0"/>
                </a:lnTo>
                <a:lnTo>
                  <a:pt x="7419845" y="5849849"/>
                </a:lnTo>
                <a:lnTo>
                  <a:pt x="0" y="58498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95250" y="1772637"/>
            <a:ext cx="7257290" cy="168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OUTPUTS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83259" y="4719741"/>
            <a:ext cx="7140629" cy="1975292"/>
          </a:xfrm>
          <a:custGeom>
            <a:avLst/>
            <a:gdLst/>
            <a:ahLst/>
            <a:cxnLst/>
            <a:rect r="r" b="b" t="t" l="l"/>
            <a:pathLst>
              <a:path h="1975292" w="7140629">
                <a:moveTo>
                  <a:pt x="0" y="0"/>
                </a:moveTo>
                <a:lnTo>
                  <a:pt x="7140629" y="0"/>
                </a:lnTo>
                <a:lnTo>
                  <a:pt x="7140629" y="1975292"/>
                </a:lnTo>
                <a:lnTo>
                  <a:pt x="0" y="19752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322034" y="1972662"/>
            <a:ext cx="7323064" cy="5849849"/>
          </a:xfrm>
          <a:custGeom>
            <a:avLst/>
            <a:gdLst/>
            <a:ahLst/>
            <a:cxnLst/>
            <a:rect r="r" b="b" t="t" l="l"/>
            <a:pathLst>
              <a:path h="5849849" w="7323064">
                <a:moveTo>
                  <a:pt x="0" y="0"/>
                </a:moveTo>
                <a:lnTo>
                  <a:pt x="7323064" y="0"/>
                </a:lnTo>
                <a:lnTo>
                  <a:pt x="7323064" y="5849849"/>
                </a:lnTo>
                <a:lnTo>
                  <a:pt x="0" y="58498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95250" y="1772637"/>
            <a:ext cx="7257290" cy="168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OUTPUTS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24773" y="1772637"/>
            <a:ext cx="11897500" cy="168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ANÁLISE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64983" y="3711557"/>
            <a:ext cx="7257290" cy="342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48"/>
              </a:lnSpc>
            </a:pPr>
            <a:r>
              <a:rPr lang="en-US" sz="32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 tempo de execução aumenta conforme o tamanho da lista cresce, como esperado para algoritmos de ordenação.</a:t>
            </a:r>
          </a:p>
          <a:p>
            <a:pPr algn="r">
              <a:lnSpc>
                <a:spcPts val="4548"/>
              </a:lnSpc>
            </a:pPr>
            <a:r>
              <a:rPr lang="en-US" b="true" sz="32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Porém, com tempos distintos entre a ordenação crescente e decrescente.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26009" y="1725842"/>
            <a:ext cx="5053997" cy="52766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24773" y="1772637"/>
            <a:ext cx="11897500" cy="168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ANÁLISE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72458" y="3721082"/>
            <a:ext cx="7549816" cy="3453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8"/>
              </a:lnSpc>
            </a:pPr>
            <a:r>
              <a:rPr lang="en-US" sz="27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Normalmente, a ordenação crescente tende a ser ligeiramente mais rápida, mas aconteceram algumas variações em que a decrescente foi mais rápida.</a:t>
            </a:r>
          </a:p>
          <a:p>
            <a:pPr algn="r">
              <a:lnSpc>
                <a:spcPts val="3988"/>
              </a:lnSpc>
            </a:pPr>
            <a:r>
              <a:rPr lang="en-US" b="true" sz="28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diferença entre crescente e decrescente não está na lógica do Tree Sort, e sim na operação de inversão [::-1]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26009" y="1725842"/>
            <a:ext cx="5053997" cy="52766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71958" y="2247560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ANÁLISE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92173" y="4186479"/>
            <a:ext cx="11503654" cy="456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8"/>
              </a:lnSpc>
            </a:pPr>
            <a:r>
              <a:rPr lang="en-US" sz="32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complexidade do Tree Sort depende da forma da árvore:</a:t>
            </a:r>
          </a:p>
          <a:p>
            <a:pPr algn="ctr">
              <a:lnSpc>
                <a:spcPts val="4548"/>
              </a:lnSpc>
            </a:pPr>
          </a:p>
          <a:p>
            <a:pPr algn="ctr">
              <a:lnSpc>
                <a:spcPts val="4548"/>
              </a:lnSpc>
            </a:pPr>
            <a:r>
              <a:rPr lang="en-US" b="true" sz="3249" u="sng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Melhor caso O(n log n)</a:t>
            </a:r>
            <a:r>
              <a:rPr lang="en-US" sz="32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 Acontece quando os valores são inseridos de forma que a árvore fique relativamente equilibrada (valores aleatórios). As inserções são mais eficientes e a travessia em ordem é linear e rápida.</a:t>
            </a:r>
          </a:p>
          <a:p>
            <a:pPr algn="ctr">
              <a:lnSpc>
                <a:spcPts val="4548"/>
              </a:lnSpc>
            </a:pPr>
          </a:p>
          <a:p>
            <a:pPr algn="ctr">
              <a:lnSpc>
                <a:spcPts val="4548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71958" y="2247560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ANÁLISE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92173" y="4186479"/>
            <a:ext cx="11503654" cy="399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8"/>
              </a:lnSpc>
            </a:pPr>
            <a:r>
              <a:rPr lang="en-US" sz="32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complexidade do Tree Sort depende da forma da árvore:</a:t>
            </a:r>
          </a:p>
          <a:p>
            <a:pPr algn="ctr">
              <a:lnSpc>
                <a:spcPts val="4548"/>
              </a:lnSpc>
            </a:pPr>
          </a:p>
          <a:p>
            <a:pPr algn="ctr">
              <a:lnSpc>
                <a:spcPts val="4548"/>
              </a:lnSpc>
            </a:pPr>
            <a:r>
              <a:rPr lang="en-US" b="true" sz="3249" u="sng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Pior caso O(n²):</a:t>
            </a:r>
            <a:r>
              <a:rPr lang="en-US" sz="32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Ocorre quando a árvore fica totalmente desbalanceada, parecida com uma lista encadeada </a:t>
            </a:r>
          </a:p>
          <a:p>
            <a:pPr algn="ctr">
              <a:lnSpc>
                <a:spcPts val="4548"/>
              </a:lnSpc>
            </a:pPr>
            <a:r>
              <a:rPr lang="en-US" sz="32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([1, 2, 3, 4, 5] ou [5, 4, 3, 2, 1]).</a:t>
            </a:r>
          </a:p>
          <a:p>
            <a:pPr algn="ctr">
              <a:lnSpc>
                <a:spcPts val="4548"/>
              </a:lnSpc>
            </a:pPr>
          </a:p>
          <a:p>
            <a:pPr algn="ctr">
              <a:lnSpc>
                <a:spcPts val="4548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71958" y="2247560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ANÁLISE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33621" y="3933767"/>
            <a:ext cx="11860022" cy="419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26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complexidade do Tree Sort depende da forma da árvore:</a:t>
            </a:r>
          </a:p>
          <a:p>
            <a:pPr algn="ctr">
              <a:lnSpc>
                <a:spcPts val="3708"/>
              </a:lnSpc>
            </a:pPr>
          </a:p>
          <a:p>
            <a:pPr algn="ctr">
              <a:lnSpc>
                <a:spcPts val="3708"/>
              </a:lnSpc>
            </a:pPr>
            <a:r>
              <a:rPr lang="en-US" b="true" sz="2649" u="sng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Caso Médio O(n log n):</a:t>
            </a:r>
            <a:r>
              <a:rPr lang="en-US" sz="26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Considera uma lista com elementos distribuídos de forma aleatória. No caso do Tree Sort, isso geralmente leva a uma árvore que fica com profundidade próxima ao log n, resultando em inserções mais eficientes,</a:t>
            </a:r>
          </a:p>
          <a:p>
            <a:pPr algn="ctr">
              <a:lnSpc>
                <a:spcPts val="3708"/>
              </a:lnSpc>
            </a:pPr>
            <a:r>
              <a:rPr lang="en-US" sz="26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número reduzido de comparações e percurso final otimizado.</a:t>
            </a:r>
          </a:p>
          <a:p>
            <a:pPr algn="ctr">
              <a:lnSpc>
                <a:spcPts val="3708"/>
              </a:lnSpc>
            </a:pPr>
            <a:r>
              <a:rPr lang="en-US" sz="26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Os testes confirmaram isso, pois os tempos subiram suavemente entre as entradas 100 → 1.000 → 10.000, em um padrão parecido com n log 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71958" y="2247560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ANÁLISE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33621" y="4087250"/>
            <a:ext cx="11860022" cy="37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b="true" sz="2649" u="sng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Crescimento quanto maior o volume de dados:</a:t>
            </a:r>
            <a:r>
              <a:rPr lang="en-US" sz="26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O Tree Sort usa recursão na inserção, cria muitos objetos (nós da árvore), faz alocações constantes de memória e executa diversas comparações a cada inserção.</a:t>
            </a:r>
          </a:p>
          <a:p>
            <a:pPr algn="ctr">
              <a:lnSpc>
                <a:spcPts val="3708"/>
              </a:lnSpc>
            </a:pPr>
            <a:r>
              <a:rPr lang="en-US" sz="26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Por isso, quando passamos de 10 mil para 100 mil elementos:</a:t>
            </a:r>
          </a:p>
          <a:p>
            <a:pPr algn="ctr">
              <a:lnSpc>
                <a:spcPts val="3708"/>
              </a:lnSpc>
            </a:pPr>
            <a:r>
              <a:rPr lang="en-US" sz="26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O log n cresce pouco, mas</a:t>
            </a:r>
          </a:p>
          <a:p>
            <a:pPr algn="ctr">
              <a:lnSpc>
                <a:spcPts val="3708"/>
              </a:lnSpc>
            </a:pPr>
            <a:r>
              <a:rPr lang="en-US" sz="26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O "n" cresce 10 vezes</a:t>
            </a:r>
          </a:p>
          <a:p>
            <a:pPr algn="ctr">
              <a:lnSpc>
                <a:spcPts val="3708"/>
              </a:lnSpc>
            </a:pPr>
          </a:p>
          <a:p>
            <a:pPr algn="ctr">
              <a:lnSpc>
                <a:spcPts val="3708"/>
              </a:lnSpc>
            </a:pPr>
            <a:r>
              <a:rPr lang="en-US" sz="26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Então, o tempo total cresce de forma perceptível.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71958" y="2247560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COMPARAÇÃO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04295" y="4038910"/>
            <a:ext cx="11860022" cy="4194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8"/>
              </a:lnSpc>
            </a:pPr>
            <a:r>
              <a:rPr lang="en-US" sz="30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diferença entre crescente e decrescente no algoritmo não é computacionalmente relevante, pois a árvore é construída da mesma forma nos dois casos e percurso é o mesmo. A única diferença é o [::-1].</a:t>
            </a:r>
          </a:p>
          <a:p>
            <a:pPr algn="ctr">
              <a:lnSpc>
                <a:spcPts val="4268"/>
              </a:lnSpc>
            </a:pPr>
            <a:r>
              <a:rPr lang="en-US" sz="3049" b="true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Então, ao que parece, a diferença de tempo observada entre crescente e decrescente é apenas variação natural da execução, não do algoritmo em si.</a:t>
            </a:r>
          </a:p>
          <a:p>
            <a:pPr algn="ctr">
              <a:lnSpc>
                <a:spcPts val="3708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71958" y="1833149"/>
            <a:ext cx="9944085" cy="168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6"/>
              </a:lnSpc>
            </a:pPr>
            <a:r>
              <a:rPr lang="en-US" sz="9783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CONCLUSÃO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64844" y="3453761"/>
            <a:ext cx="12758313" cy="450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5135" indent="-307568" lvl="1">
              <a:lnSpc>
                <a:spcPts val="3988"/>
              </a:lnSpc>
              <a:buFont typeface="Arial"/>
              <a:buChar char="•"/>
            </a:pPr>
            <a:r>
              <a:rPr lang="en-US" b="true" sz="28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 Tree Sort se comportou com eficiência no caso médio em que foi testado, apresentando tempos compatíveis com O(n log n).</a:t>
            </a:r>
          </a:p>
          <a:p>
            <a:pPr algn="ctr" marL="615135" indent="-307568" lvl="1">
              <a:lnSpc>
                <a:spcPts val="3988"/>
              </a:lnSpc>
              <a:buFont typeface="Arial"/>
              <a:buChar char="•"/>
            </a:pPr>
            <a:r>
              <a:rPr lang="en-US" b="true" sz="28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construção da árvore é responsável pela maior parte do custo total.</a:t>
            </a:r>
          </a:p>
          <a:p>
            <a:pPr algn="ctr" marL="615135" indent="-307568" lvl="1">
              <a:lnSpc>
                <a:spcPts val="3988"/>
              </a:lnSpc>
              <a:buFont typeface="Arial"/>
              <a:buChar char="•"/>
            </a:pPr>
            <a:r>
              <a:rPr lang="en-US" b="true" sz="28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ordenação decrescente não é mais lenta, a diferença se deve apenas à etapa final de inversão da lista.</a:t>
            </a:r>
          </a:p>
          <a:p>
            <a:pPr algn="ctr" marL="615135" indent="-307568" lvl="1">
              <a:lnSpc>
                <a:spcPts val="3988"/>
              </a:lnSpc>
              <a:buFont typeface="Arial"/>
              <a:buChar char="•"/>
            </a:pPr>
            <a:r>
              <a:rPr lang="en-US" b="true" sz="28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Para listas muito grandes, o algoritmo se torna significativamente mais lento devido à criação intensiva de nós e chamadas recursivas.</a:t>
            </a:r>
          </a:p>
          <a:p>
            <a:pPr algn="ctr" marL="593546" indent="-296773" lvl="1">
              <a:lnSpc>
                <a:spcPts val="3848"/>
              </a:lnSpc>
              <a:buFont typeface="Arial"/>
              <a:buChar char="•"/>
            </a:pPr>
            <a:r>
              <a:rPr lang="en-US" b="true" sz="2749">
                <a:solidFill>
                  <a:srgbClr val="8F644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 a entrada estivesse pré-ordenada, o tempo seria muito maior (pior caso = O(n²)), o que não foi o caso dos testes.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4191" y="7893553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841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7" y="0"/>
                </a:lnTo>
                <a:lnTo>
                  <a:pt x="2199077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2464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4" y="0"/>
                </a:lnTo>
                <a:lnTo>
                  <a:pt x="2249204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295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2551" y="8133679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2434" y="82337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2057" y="86507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2"/>
                </a:lnTo>
                <a:lnTo>
                  <a:pt x="0" y="2991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3888" y="9494810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44359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4566" y="8239642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4189" y="8656690"/>
            <a:ext cx="2249204" cy="2991442"/>
          </a:xfrm>
          <a:custGeom>
            <a:avLst/>
            <a:gdLst/>
            <a:ahLst/>
            <a:cxnLst/>
            <a:rect r="r" b="b" t="t" l="l"/>
            <a:pathLst>
              <a:path h="2991442" w="2249204">
                <a:moveTo>
                  <a:pt x="0" y="0"/>
                </a:moveTo>
                <a:lnTo>
                  <a:pt x="2249205" y="0"/>
                </a:lnTo>
                <a:lnTo>
                  <a:pt x="2249205" y="2991441"/>
                </a:lnTo>
                <a:lnTo>
                  <a:pt x="0" y="299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6020" y="9594873"/>
            <a:ext cx="2199078" cy="4294843"/>
          </a:xfrm>
          <a:custGeom>
            <a:avLst/>
            <a:gdLst/>
            <a:ahLst/>
            <a:cxnLst/>
            <a:rect r="r" b="b" t="t" l="l"/>
            <a:pathLst>
              <a:path h="4294843" w="2199078">
                <a:moveTo>
                  <a:pt x="0" y="0"/>
                </a:moveTo>
                <a:lnTo>
                  <a:pt x="2199078" y="0"/>
                </a:lnTo>
                <a:lnTo>
                  <a:pt x="2199078" y="4294843"/>
                </a:lnTo>
                <a:lnTo>
                  <a:pt x="0" y="4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94277" y="8039515"/>
            <a:ext cx="1767914" cy="4025664"/>
          </a:xfrm>
          <a:custGeom>
            <a:avLst/>
            <a:gdLst/>
            <a:ahLst/>
            <a:cxnLst/>
            <a:rect r="r" b="b" t="t" l="l"/>
            <a:pathLst>
              <a:path h="4025664" w="1767914">
                <a:moveTo>
                  <a:pt x="0" y="0"/>
                </a:moveTo>
                <a:lnTo>
                  <a:pt x="1767914" y="0"/>
                </a:lnTo>
                <a:lnTo>
                  <a:pt x="1767914" y="4025664"/>
                </a:lnTo>
                <a:lnTo>
                  <a:pt x="0" y="4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96692" y="4019182"/>
            <a:ext cx="14694617" cy="186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33"/>
              </a:lnSpc>
            </a:pPr>
            <a:r>
              <a:rPr lang="en-US" sz="14456">
                <a:solidFill>
                  <a:srgbClr val="70743E"/>
                </a:solidFill>
                <a:latin typeface="Belleza"/>
                <a:ea typeface="Belleza"/>
                <a:cs typeface="Belleza"/>
                <a:sym typeface="Belleza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DAG6-ndHjGs</dc:identifier>
  <dcterms:modified xsi:type="dcterms:W3CDTF">2011-08-01T06:04:30Z</dcterms:modified>
  <cp:revision>1</cp:revision>
  <dc:title>Green and Pink Watercolor Floral Illustration Presentation</dc:title>
</cp:coreProperties>
</file>